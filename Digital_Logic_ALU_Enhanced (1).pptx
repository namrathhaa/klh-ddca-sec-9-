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6a92e83-6354-33c9-2474-22418090c9ab}">
          <p14:sldIdLst>
            <p14:sldId id="256"/>
            <p14:sldId id="257"/>
          </p14:sldIdLst>
        </p14:section>
        <p14:section name="Foundations" id="{c331e97e-84b2-ed4a-0abc-3902be20660a}">
          <p14:sldIdLst>
            <p14:sldId id="258"/>
            <p14:sldId id="259"/>
          </p14:sldIdLst>
        </p14:section>
        <p14:section name="Arithmetic" id="{67443d00-f5cd-52c1-4225-bd2cc51d934c}">
          <p14:sldIdLst>
            <p14:sldId id="260"/>
            <p14:sldId id="261"/>
            <p14:sldId id="262"/>
            <p14:sldId id="263"/>
          </p14:sldIdLst>
        </p14:section>
        <p14:section name="Data Handling" id="{c6ceb564-003a-3e88-b6d2-7945fe1ae6de}">
          <p14:sldIdLst>
            <p14:sldId id="264"/>
            <p14:sldId id="265"/>
            <p14:sldId id="266"/>
          </p14:sldIdLst>
        </p14:section>
        <p14:section name="The ALU" id="{02cfb3f3-9d1c-395f-aca1-92411e6bf81c}">
          <p14:sldIdLst>
            <p14:sldId id="267"/>
            <p14:sldId id="268"/>
          </p14:sldIdLst>
        </p14:section>
        <p14:section name="Wrap-up" id="{51b9dbd2-db35-994c-9c2f-c5de2141bd0e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 from the original: F = C + A'B for minterms 1,2,3,5,7.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adder row 011 Sum corrected to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n-bit input gives up to 2^n outputs (original said 2^m).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DDCA  |  Module 2  |  Combinational Logic &amp; ALU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822960"/>
            <a:ext cx="731520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822960"/>
            <a:ext cx="0" cy="54864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73568" y="1371600"/>
            <a:ext cx="438912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1307592"/>
            <a:ext cx="128016" cy="12801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1371600"/>
            <a:ext cx="457200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1371600"/>
            <a:ext cx="0" cy="45720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1828800"/>
            <a:ext cx="274320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48472" y="1764792"/>
            <a:ext cx="128016" cy="12801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31920"/>
            <a:ext cx="640080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931920"/>
            <a:ext cx="0" cy="45720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389120"/>
            <a:ext cx="384048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325112"/>
            <a:ext cx="128016" cy="12801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389120"/>
            <a:ext cx="457200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389120"/>
            <a:ext cx="0" cy="27432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663440"/>
            <a:ext cx="274320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" y="4599432"/>
            <a:ext cx="128016" cy="12801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 L Deemed to be University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Department of Computer Science and Engineering  |  DDCA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1508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Module 2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2240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Combinational Logic &amp; ALU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Digital Design &amp; Computer Architecture  |  26EC1202E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2026 - 2027 (Odd Sem)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INTRO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Module 2 Overview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316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716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Combinational Logic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5316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3716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Karnaugh Maps (K-maps)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5316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13716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Half Adder &amp; Full Adder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4003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240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Ripple-Carry Adder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224028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4003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2240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Two's-Complement Subtraction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224028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4003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240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Adder / Subtractor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2689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1089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Multiplexer &amp; Decoder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46120" y="310896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2689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1089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Comparator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3108960"/>
            <a:ext cx="2651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32689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31089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ALU: the CPU's Calculator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tx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" y="4023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ALU is the first major CPU subsystem we build: it performs arithmetic and logical operations on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FOUNDATIONS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Combinational Logic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 memory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 depends only on the current inputs.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Built from gates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Made entirely of logic gates.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Adders, subtractors, MUX, decoder, comparator, ALU.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Inputs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(A, B, ...)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77440" y="342900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200400" y="2926080"/>
            <a:ext cx="27432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Combinational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Logic Circuit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0" y="342900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85800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Outputs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(Y, ...)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FOUNDATIONS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Karnaugh Maps (K-maps)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338328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Simplifies Boolean expressions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338328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Reduces the number of gates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338328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Leads to minimal, efficient circuits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337560"/>
            <a:ext cx="338328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3401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Simplified expression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703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 = C + A′B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Example: F(A,B,C) = Σm(1,2,3,5,7)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103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00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2103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103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11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0" y="2103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77640" y="2103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\ BC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2468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46320" y="2468880"/>
            <a:ext cx="822960" cy="640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0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669280" y="2468880"/>
            <a:ext cx="822960" cy="640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492240" y="2468880"/>
            <a:ext cx="822960" cy="640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315200" y="2468880"/>
            <a:ext cx="822960" cy="640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31089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46320" y="3108960"/>
            <a:ext cx="822960" cy="640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0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669280" y="3108960"/>
            <a:ext cx="822960" cy="640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492240" y="3108960"/>
            <a:ext cx="822960" cy="640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315200" y="3108960"/>
            <a:ext cx="822960" cy="640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0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724144" y="2523744"/>
            <a:ext cx="1536192" cy="1170432"/>
          </a:xfrm>
          <a:prstGeom prst="roundRect">
            <a:avLst>
              <a:gd name="adj" fmla="val 11719"/>
            </a:avLst>
          </a:prstGeom>
          <a:solidFill>
            <a:schemeClr val="accent1">
              <a:alpha val="1500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620256" y="2596896"/>
            <a:ext cx="1389888" cy="384048"/>
          </a:xfrm>
          <a:prstGeom prst="roundRect">
            <a:avLst>
              <a:gd name="adj" fmla="val 28571"/>
            </a:avLst>
          </a:prstGeom>
          <a:solidFill>
            <a:schemeClr val="accent4">
              <a:alpha val="20000"/>
            </a:schemeClr>
          </a:solidFill>
          <a:ln w="31750">
            <a:solidFill>
              <a:schemeClr val="accent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29768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Group 1 (quad): C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49224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Group 2 (pair): A′B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ARITHMETIC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Half Adder &amp; Full Adder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35661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Half Adder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Adds two 1-bit inputs; outputs Sum and Carry.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32004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960120"/>
                <a:gridCol w="960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Carry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0080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Sum = A ⊕ B      Carry = A · B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206240" y="1325880"/>
            <a:ext cx="44805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38912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Full Adder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891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Adds three 1-bit inputs (A, B, Cin); outputs Sum and Carry.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2148840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Carry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ARITHMETIC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Ripple-Carry Adder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Cascades full adders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325880"/>
            <a:ext cx="265176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Carry moves from LSB to MSB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325880"/>
            <a:ext cx="265176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Used for multi-bit addition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371600" y="2148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A₀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2148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54480" y="2468880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2468880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2926080"/>
            <a:ext cx="10515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3017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3337560"/>
            <a:ext cx="7772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805940" y="3749040"/>
            <a:ext cx="0" cy="411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623060" y="4160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S₀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2148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A₁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703320" y="2148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83280" y="2468880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6200" y="2468880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2926080"/>
            <a:ext cx="10515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FA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160520" y="3017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Cout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60520" y="3337560"/>
            <a:ext cx="7772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634740" y="3749040"/>
            <a:ext cx="0" cy="411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451860" y="4160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S₁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2148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A₂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532120" y="2148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212080" y="2468880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15000" y="2468880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926080"/>
            <a:ext cx="10515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FA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5989320" y="3017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89320" y="3337560"/>
            <a:ext cx="7772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463540" y="3749040"/>
            <a:ext cx="0" cy="411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5280660" y="4160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S₂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2148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A₃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360920" y="2148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B₃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040880" y="2468880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43800" y="2468880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2926080"/>
            <a:ext cx="10515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FA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292340" y="3749040"/>
            <a:ext cx="0" cy="411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7109460" y="4160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S₃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ARITHMETIC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Two's-Complement Subtraction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401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Invert 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840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4401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 1 to get B′ + 1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84048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4401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 the result to 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520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 − B = A + (B′ + 1)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69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same adder circuit can be reused.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4114800" cy="315468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0060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Example: 5 − 3  (4-bit)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 0101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441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= 0011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29169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3′ = 1100,  +1 = 1101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3924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 + 1101 = 10010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8679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Discard carry: 0010 = 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ARITHMETIC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Adder / Subtractor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92608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 = 0  →  Addition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325880"/>
            <a:ext cx="512064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37160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325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 = 1  →  Subtraction (B inverted, Cin = 1)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8600" y="3200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Cin = 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383280"/>
            <a:ext cx="1371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41732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B₀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00200" y="2286000"/>
            <a:ext cx="0" cy="137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325880" y="2423160"/>
            <a:ext cx="5486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600200" y="283464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03120" y="2286000"/>
            <a:ext cx="0" cy="7772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960120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88720" y="2624328"/>
            <a:ext cx="1371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234440" y="3063240"/>
            <a:ext cx="10515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286000" y="338328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760220" y="370332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577340" y="4023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S₀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B₁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79476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A₁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74720" y="2286000"/>
            <a:ext cx="0" cy="137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200400" y="2423160"/>
            <a:ext cx="5486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⊕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74720" y="283464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77640" y="2286000"/>
            <a:ext cx="0" cy="7772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834640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63240" y="2624328"/>
            <a:ext cx="1371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108960" y="3063240"/>
            <a:ext cx="10515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160520" y="338328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634740" y="370332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451860" y="4023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S₁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B₂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A₂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349240" y="2286000"/>
            <a:ext cx="0" cy="137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5074920" y="2423160"/>
            <a:ext cx="5486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⊕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49240" y="283464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852160" y="2286000"/>
            <a:ext cx="0" cy="7772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4709160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937760" y="2624328"/>
            <a:ext cx="1371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983480" y="3063240"/>
            <a:ext cx="10515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035040" y="338328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509260" y="370332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5326380" y="4023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S₂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704088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B₃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754380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A₃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223760" y="2286000"/>
            <a:ext cx="0" cy="1371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6949440" y="2423160"/>
            <a:ext cx="5486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⊕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223760" y="283464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726680" y="2286000"/>
            <a:ext cx="0" cy="7772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6583680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812280" y="2624328"/>
            <a:ext cx="1371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6858000" y="3063240"/>
            <a:ext cx="10515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383780" y="370332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7200900" y="4023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S₃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DATA HANDLING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Multiplexer (MUX)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Selects one input using the select lines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402336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Commonly used for data routing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5400000">
            <a:off x="1508760" y="2651760"/>
            <a:ext cx="1737360" cy="1280160"/>
          </a:xfrm>
          <a:prstGeom prst="trapezoid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0" y="2926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MUX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2:1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97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80160" y="2852928"/>
            <a:ext cx="5486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66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80160" y="3721608"/>
            <a:ext cx="5486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3291840"/>
            <a:ext cx="64008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6118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377440" y="393192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94560" y="4206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286000"/>
          <a:ext cx="39319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I₀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I₁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754880" y="3749040"/>
            <a:ext cx="39319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937760" y="3749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Y = S′·I₀ + S·I₁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DATA HANDLING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Decoder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402336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Converts an n-bit input into up to 2ⁿ outputs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325880"/>
            <a:ext cx="402336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0" y="1325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Only one output is active at a time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2286000"/>
            <a:ext cx="1554480" cy="210312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2-to-4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Decoder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05840" y="292608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05840" y="393192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926080" y="2606040"/>
            <a:ext cx="5486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3520440" y="2468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Y₀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926080" y="3136392"/>
            <a:ext cx="5486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3520440" y="2999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Y₁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926080" y="3666744"/>
            <a:ext cx="5486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3520440" y="35295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926080" y="4197096"/>
            <a:ext cx="5486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3520440" y="4059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Y₃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2423160"/>
          <a:ext cx="4206240" cy="914400"/>
        </p:xfrm>
        <a:graphic>
          <a:graphicData uri="http://schemas.openxmlformats.org/drawingml/2006/table">
            <a:tbl>
              <a:tblPr/>
              <a:tblGrid>
                <a:gridCol w="701040"/>
                <a:gridCol w="701040"/>
                <a:gridCol w="701040"/>
                <a:gridCol w="701040"/>
                <a:gridCol w="701040"/>
                <a:gridCol w="701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Y₀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Y₁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Y₃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DATA HANDLING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Comparator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Compares two n-bit numbers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402336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Outputs: A &gt; B, A = B, A &lt; 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A[n-1:0]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2852928"/>
            <a:ext cx="9144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457200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B[n-1:0]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3813048"/>
            <a:ext cx="9144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00400" y="2377440"/>
            <a:ext cx="21945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Comparator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94960" y="274320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263640" y="2514600"/>
            <a:ext cx="1645920" cy="45720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&gt; 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4960" y="338328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263640" y="3154680"/>
            <a:ext cx="1645920" cy="457200"/>
          </a:xfrm>
          <a:prstGeom prst="roundRect">
            <a:avLst>
              <a:gd name="adj" fmla="val 4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= 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4960" y="4023360"/>
            <a:ext cx="8229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263640" y="3794760"/>
            <a:ext cx="1645920" cy="45720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&lt; 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ALU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ALU: the CPU's Calculator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Performs arithmetic and logical operations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325880"/>
            <a:ext cx="26517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325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Takes two inputs and a control signal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325880"/>
            <a:ext cx="26517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1325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Outputs a result and status flags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54480" y="2514600"/>
            <a:ext cx="7315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6576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54480" y="3108960"/>
            <a:ext cx="7315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65760" y="3520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Control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54480" y="3703320"/>
            <a:ext cx="7315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286000" y="219456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ALU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206240" y="2606040"/>
            <a:ext cx="7315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02920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06240" y="3474720"/>
            <a:ext cx="7315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0292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Flags (Z, C, N, V)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Z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2286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Zero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2834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2834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Carry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33832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383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Negative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3931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3931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Overflow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ALU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ALU Design &amp; Verification in Logisim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258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Build each block separately (adder, MUX, decoder)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3258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Combine into the ALU using control signals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13258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Test with different inputs and verify outputs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Suggested ALU operations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347472"/>
          </a:xfrm>
          <a:prstGeom prst="roundRect">
            <a:avLst>
              <a:gd name="adj" fmla="val 31579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880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Addition  (A + B)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023360" cy="347472"/>
          </a:xfrm>
          <a:prstGeom prst="roundRect">
            <a:avLst>
              <a:gd name="adj" fmla="val 31579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Subtraction  (A − B)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4023360" cy="347472"/>
          </a:xfrm>
          <a:prstGeom prst="roundRect">
            <a:avLst>
              <a:gd name="adj" fmla="val 3157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703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AND  (A &amp; B)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4023360" cy="347472"/>
          </a:xfrm>
          <a:prstGeom prst="roundRect">
            <a:avLst>
              <a:gd name="adj" fmla="val 31579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114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  (A | B)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023360" cy="347472"/>
          </a:xfrm>
          <a:prstGeom prst="roundRect">
            <a:avLst>
              <a:gd name="adj" fmla="val 3157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46320" y="2880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XOR  (A ^ B)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23360" cy="347472"/>
          </a:xfrm>
          <a:prstGeom prst="roundRect">
            <a:avLst>
              <a:gd name="adj" fmla="val 31579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46320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  (~A)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703320"/>
            <a:ext cx="4023360" cy="347472"/>
          </a:xfrm>
          <a:prstGeom prst="roundRect">
            <a:avLst>
              <a:gd name="adj" fmla="val 31579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46320" y="3703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less than  (A &lt; B)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4114800"/>
            <a:ext cx="4023360" cy="347472"/>
          </a:xfrm>
          <a:prstGeom prst="roundRect">
            <a:avLst>
              <a:gd name="adj" fmla="val 31579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46320" y="4114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Pass-through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WRAP-UP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71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Combinational logic forms the foundation of the CPU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691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1371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K-maps help simplify logic circuits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603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Adders, subtractors, MUX, decoder and comparator are key building blocks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56032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8803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25603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ALU combines these to perform real CPU operations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Next step: implement and test the ALU in Logisim / Digital simulator.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WRAP-UP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773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71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Course Handout: DDCA (Module 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5720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831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77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Logisim / Digital Documentation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45720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890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383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RISC-V Architecture (for context)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1371600"/>
            <a:ext cx="3383280" cy="283464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532120" y="137160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2"/>
                </a:solidFill>
              </a:rPr>
              <a:t>“Logic builds the circuits,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chemeClr val="accent2"/>
                </a:solidFill>
              </a:rPr>
              <a:t>Circuits build the machine.”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822960"/>
            <a:ext cx="731520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822960"/>
            <a:ext cx="0" cy="54864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73568" y="1371600"/>
            <a:ext cx="438912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1307592"/>
            <a:ext cx="128016" cy="12801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3566160"/>
            <a:ext cx="457200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3566160"/>
            <a:ext cx="0" cy="54864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4114800"/>
            <a:ext cx="274320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48472" y="4050792"/>
            <a:ext cx="128016" cy="12801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097280"/>
            <a:ext cx="640080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097280"/>
            <a:ext cx="0" cy="54864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645920"/>
            <a:ext cx="384048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1581912"/>
            <a:ext cx="128016" cy="12801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206240"/>
            <a:ext cx="457200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206240"/>
            <a:ext cx="0" cy="36576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572000"/>
            <a:ext cx="274320" cy="0"/>
          </a:xfrm>
          <a:prstGeom prst="line">
            <a:avLst/>
          </a:prstGeom>
          <a:noFill/>
          <a:ln w="15875">
            <a:solidFill>
              <a:schemeClr val="accent2">
                <a:alpha val="60000"/>
              </a:scheme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" y="4507992"/>
            <a:ext cx="128016" cy="12801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Thank You!</a:t>
            </a:r>
            <a:endParaRPr lang="en-US" sz="56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2"/>
                </a:solidFill>
              </a:rPr>
              <a:t>Any 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DCA Navy">
  <a:themeElements>
    <a:clrScheme name="DDCA Navy">
      <a:dk1>
        <a:srgbClr val="0B1F3A"/>
      </a:dk1>
      <a:lt1>
        <a:srgbClr val="FFFFFF"/>
      </a:lt1>
      <a:dk2>
        <a:srgbClr val="12396B"/>
      </a:dk2>
      <a:lt2>
        <a:srgbClr val="EAF2FB"/>
      </a:lt2>
      <a:accent1>
        <a:srgbClr val="0891B2"/>
      </a:accent1>
      <a:accent2>
        <a:srgbClr val="22D3EE"/>
      </a:accent2>
      <a:accent3>
        <a:srgbClr val="1D4ED8"/>
      </a:accent3>
      <a:accent4>
        <a:srgbClr val="F59E0B"/>
      </a:accent4>
      <a:accent5>
        <a:srgbClr val="10B981"/>
      </a:accent5>
      <a:accent6>
        <a:srgbClr val="EF4444"/>
      </a:accent6>
      <a:hlink>
        <a:srgbClr val="0891B2"/>
      </a:hlink>
      <a:folHlink>
        <a:srgbClr val="12396B"/>
      </a:folHlink>
    </a:clrScheme>
    <a:fontScheme name="DDCA 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2 - Combinational Logic &amp; ALU</dc:title>
  <dc:subject>PptxGenJS Presentation</dc:subject>
  <dc:creator>PptxGenJS</dc:creator>
  <cp:lastModifiedBy>PptxGenJS</cp:lastModifiedBy>
  <cp:revision>1</cp:revision>
  <dcterms:created xsi:type="dcterms:W3CDTF">2026-10-14T12:09:39Z</dcterms:created>
  <dcterms:modified xsi:type="dcterms:W3CDTF">2026-10-14T12:09:39Z</dcterms:modified>
</cp:coreProperties>
</file>